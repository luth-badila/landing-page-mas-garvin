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80" r:id="rId8"/>
    <p:sldId id="28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2" r:id="rId18"/>
    <p:sldId id="270" r:id="rId19"/>
    <p:sldId id="271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9144000" cy="6858000" type="screen4x3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8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20E3-07CC-4B81-A669-7F920E72AD0E}" type="datetimeFigureOut">
              <a:rPr lang="id-ID" smtClean="0"/>
              <a:t>25/08/2025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0AE99-7A5B-438B-A29E-9DC43014AEB0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20E3-07CC-4B81-A669-7F920E72AD0E}" type="datetimeFigureOut">
              <a:rPr lang="id-ID" smtClean="0"/>
              <a:t>25/08/2025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0AE99-7A5B-438B-A29E-9DC43014AEB0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20E3-07CC-4B81-A669-7F920E72AD0E}" type="datetimeFigureOut">
              <a:rPr lang="id-ID" smtClean="0"/>
              <a:t>25/08/2025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0AE99-7A5B-438B-A29E-9DC43014AEB0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20E3-07CC-4B81-A669-7F920E72AD0E}" type="datetimeFigureOut">
              <a:rPr lang="id-ID" smtClean="0"/>
              <a:t>25/08/2025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0AE99-7A5B-438B-A29E-9DC43014AEB0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20E3-07CC-4B81-A669-7F920E72AD0E}" type="datetimeFigureOut">
              <a:rPr lang="id-ID" smtClean="0"/>
              <a:t>25/08/2025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0AE99-7A5B-438B-A29E-9DC43014AEB0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20E3-07CC-4B81-A669-7F920E72AD0E}" type="datetimeFigureOut">
              <a:rPr lang="id-ID" smtClean="0"/>
              <a:t>25/08/2025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0AE99-7A5B-438B-A29E-9DC43014AEB0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20E3-07CC-4B81-A669-7F920E72AD0E}" type="datetimeFigureOut">
              <a:rPr lang="id-ID" smtClean="0"/>
              <a:t>25/08/2025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0AE99-7A5B-438B-A29E-9DC43014AEB0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20E3-07CC-4B81-A669-7F920E72AD0E}" type="datetimeFigureOut">
              <a:rPr lang="id-ID" smtClean="0"/>
              <a:t>25/08/2025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0AE99-7A5B-438B-A29E-9DC43014AEB0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20E3-07CC-4B81-A669-7F920E72AD0E}" type="datetimeFigureOut">
              <a:rPr lang="id-ID" smtClean="0"/>
              <a:t>25/08/2025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0AE99-7A5B-438B-A29E-9DC43014AEB0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20E3-07CC-4B81-A669-7F920E72AD0E}" type="datetimeFigureOut">
              <a:rPr lang="id-ID" smtClean="0"/>
              <a:t>25/08/2025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0AE99-7A5B-438B-A29E-9DC43014AEB0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20E3-07CC-4B81-A669-7F920E72AD0E}" type="datetimeFigureOut">
              <a:rPr lang="id-ID" smtClean="0"/>
              <a:t>25/08/2025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0AE99-7A5B-438B-A29E-9DC43014AEB0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DE20E3-07CC-4B81-A669-7F920E72AD0E}" type="datetimeFigureOut">
              <a:rPr lang="id-ID" smtClean="0"/>
              <a:t>25/08/2025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70AE99-7A5B-438B-A29E-9DC43014AEB0}" type="slidenum">
              <a:rPr lang="id-ID" smtClean="0"/>
              <a:t>‹#›</a:t>
            </a:fld>
            <a:endParaRPr 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intl/id_id/chrome/" TargetMode="External"/><Relationship Id="rId2" Type="http://schemas.openxmlformats.org/officeDocument/2006/relationships/hyperlink" Target="https://code.visualstudio.com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d-ID" dirty="0" smtClean="0"/>
              <a:t>HTML DASAR</a:t>
            </a:r>
            <a:endParaRPr lang="id-ID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d-ID" dirty="0" smtClean="0">
                <a:solidFill>
                  <a:schemeClr val="tx1"/>
                </a:solidFill>
              </a:rPr>
              <a:t>BY </a:t>
            </a:r>
          </a:p>
          <a:p>
            <a:r>
              <a:rPr lang="id-ID" dirty="0" smtClean="0">
                <a:solidFill>
                  <a:schemeClr val="tx1"/>
                </a:solidFill>
              </a:rPr>
              <a:t>Muhammad Lutfi Badila</a:t>
            </a:r>
            <a:endParaRPr lang="id-ID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Pengenalan Web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Saat ini web digunakan oleh jutaan, bahkan mungkin milyaran orang setiap hari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Dengan web, kita bisa melakukan belajar mendengarkan musik, nonton video, belanja, meeting sampai memesan makanan secara online baik dengan orang dalam, kota, luar kota, luar provinsi sampai luar negeri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Namun perlu diperhatikan, Web bukanlah Internet</a:t>
            </a:r>
          </a:p>
          <a:p>
            <a:endParaRPr lang="id-ID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Internet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Internet adalah mekanisme komunikasi antar komputer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Awal internet ada, untuk komunikasi antar komputer, kita membutuhkan jaringan kabel telepon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Namun sekarang, semenjak berjamurnya jaringan wifi dan sejenisnya, komunikasi antar komputer menjadi lebih cepat dan mudah</a:t>
            </a:r>
            <a:endParaRPr lang="id-ID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Web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Web merupakan kumpulan informasi yang tersedia dalam sebuah komputer yang terkoneksi secara terus menerus melalui internet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Web bisa berisi informasi dalam bentuk apapun, seperti teks, gambar, audio, video dan lain-lain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Web berjalan di aplikasi yang bernama Web Server, yaitu aplikasi yang digunakan untuk menyimpan dan menyampaikan isi informasi Web</a:t>
            </a:r>
            <a:endParaRPr lang="id-ID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Cara Kerja Web</a:t>
            </a:r>
            <a:endParaRPr lang="id-ID" dirty="0"/>
          </a:p>
        </p:txBody>
      </p:sp>
      <p:pic>
        <p:nvPicPr>
          <p:cNvPr id="4" name="Google Shape;322;p47"/>
          <p:cNvPicPr preferRelativeResize="0">
            <a:picLocks noGrp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7200" y="2752105"/>
            <a:ext cx="8229600" cy="2222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D:\FLASHCOM\Basic Web Programming\images\download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7" y="3357562"/>
            <a:ext cx="2157989" cy="135732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Domain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Saat komputer Web terhubung ke internet, biasanya dia memiliki alamat yang bernama ip address, formatnya misal nya 172.217.194.94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Karena alamat ip address sangat menyulitkan untuk diingat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Untung saja ada yang namanya nama domain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Nama domain adalah alamat yang bisa digunakan sebagai alias ke ip address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Misal seperti facebook.com, google.com dan lain-lain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Dengan nama domain, sebagai manusia kita akan mudah mengingat dibandingkan ip address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Namun, saat kita menggunakan nama domain, sebenarnya komputer tetap akan mengakses web menggunakan alamat ip address</a:t>
            </a:r>
          </a:p>
          <a:p>
            <a:endParaRPr lang="id-ID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d-ID" b="1" dirty="0" smtClean="0"/>
              <a:t/>
            </a:r>
            <a:br>
              <a:rPr lang="id-ID" b="1" dirty="0" smtClean="0"/>
            </a:br>
            <a:r>
              <a:rPr lang="id-ID" b="1" dirty="0" smtClean="0"/>
              <a:t>URL (Uniform Resource Locator)</a:t>
            </a:r>
            <a:br>
              <a:rPr lang="id-ID" b="1" dirty="0" smtClean="0"/>
            </a:b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428736"/>
            <a:ext cx="8501122" cy="5143536"/>
          </a:xfrm>
        </p:spPr>
        <p:txBody>
          <a:bodyPr>
            <a:noAutofit/>
          </a:bodyPr>
          <a:lstStyle/>
          <a:p>
            <a:r>
              <a:rPr lang="id-ID" sz="1800" dirty="0" smtClean="0"/>
              <a:t>URL adalah </a:t>
            </a:r>
            <a:r>
              <a:rPr lang="id-ID" sz="1800" b="1" dirty="0" smtClean="0"/>
              <a:t>alamat unik</a:t>
            </a:r>
            <a:r>
              <a:rPr lang="id-ID" sz="1800" dirty="0" smtClean="0"/>
              <a:t> yang digunakan untuk mengakses sumber daya (resource) di internet, seperti halaman web, gambar, API, file, dll.</a:t>
            </a:r>
          </a:p>
          <a:p>
            <a:r>
              <a:rPr lang="id-ID" sz="1800" b="1" dirty="0" smtClean="0"/>
              <a:t>Struktur dasar URL</a:t>
            </a:r>
            <a:r>
              <a:rPr lang="id-ID" sz="1800" dirty="0" smtClean="0"/>
              <a:t>:</a:t>
            </a:r>
          </a:p>
          <a:p>
            <a:r>
              <a:rPr lang="id-ID" sz="1800" dirty="0" smtClean="0"/>
              <a:t>https://www.contoh.com:443/artikel/programming?search=web#bagian1 </a:t>
            </a:r>
          </a:p>
          <a:p>
            <a:r>
              <a:rPr lang="id-ID" sz="1800" dirty="0" smtClean="0"/>
              <a:t>Penjelasan bagian-bagiannya:</a:t>
            </a:r>
          </a:p>
          <a:p>
            <a:pPr lvl="1"/>
            <a:r>
              <a:rPr lang="id-ID" sz="1800" b="1" dirty="0" smtClean="0"/>
              <a:t>Scheme/Protocol</a:t>
            </a:r>
            <a:r>
              <a:rPr lang="id-ID" sz="1800" dirty="0" smtClean="0"/>
              <a:t> → https:// → cara browser berkomunikasi (HTTP, HTTPS, FTP, dll).</a:t>
            </a:r>
          </a:p>
          <a:p>
            <a:pPr lvl="1"/>
            <a:r>
              <a:rPr lang="id-ID" sz="1800" b="1" dirty="0" smtClean="0"/>
              <a:t>Domain/Host</a:t>
            </a:r>
            <a:r>
              <a:rPr lang="id-ID" sz="1800" dirty="0" smtClean="0"/>
              <a:t> → www.contoh.com → alamat server di internet.</a:t>
            </a:r>
          </a:p>
          <a:p>
            <a:pPr lvl="1"/>
            <a:r>
              <a:rPr lang="id-ID" sz="1800" b="1" dirty="0" smtClean="0"/>
              <a:t>Port (opsional)</a:t>
            </a:r>
            <a:r>
              <a:rPr lang="id-ID" sz="1800" dirty="0" smtClean="0"/>
              <a:t> → :443 → nomor jalur komunikasi (default HTTPS = 443, HTTP = 80).</a:t>
            </a:r>
          </a:p>
          <a:p>
            <a:pPr lvl="1"/>
            <a:r>
              <a:rPr lang="id-ID" sz="1800" b="1" dirty="0" smtClean="0"/>
              <a:t>Path</a:t>
            </a:r>
            <a:r>
              <a:rPr lang="id-ID" sz="1800" dirty="0" smtClean="0"/>
              <a:t> → /artikel/programming → lokasi resource di server.</a:t>
            </a:r>
          </a:p>
          <a:p>
            <a:pPr lvl="1"/>
            <a:r>
              <a:rPr lang="id-ID" sz="1800" b="1" dirty="0" smtClean="0"/>
              <a:t>Query string (opsional)</a:t>
            </a:r>
            <a:r>
              <a:rPr lang="id-ID" sz="1800" dirty="0" smtClean="0"/>
              <a:t> → ?search=web → parameter tambahan (biasanya untuk filter atau pencarian).</a:t>
            </a:r>
          </a:p>
          <a:p>
            <a:pPr lvl="1"/>
            <a:r>
              <a:rPr lang="id-ID" sz="1800" b="1" dirty="0" smtClean="0"/>
              <a:t>Fragment (opsional)</a:t>
            </a:r>
            <a:r>
              <a:rPr lang="id-ID" sz="1800" dirty="0" smtClean="0"/>
              <a:t> → #bagian1 → navigasi ke bagian tertentu dalam halaman.</a:t>
            </a:r>
          </a:p>
          <a:p>
            <a:endParaRPr lang="id-ID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500042"/>
            <a:ext cx="8186766" cy="5626121"/>
          </a:xfrm>
        </p:spPr>
        <p:txBody>
          <a:bodyPr/>
          <a:lstStyle/>
          <a:p>
            <a:r>
              <a:rPr lang="id-ID" b="1" dirty="0" smtClean="0"/>
              <a:t>Contoh</a:t>
            </a:r>
            <a:r>
              <a:rPr lang="id-ID" dirty="0" smtClean="0"/>
              <a:t>:</a:t>
            </a:r>
          </a:p>
          <a:p>
            <a:pPr lvl="1"/>
            <a:r>
              <a:rPr lang="id-ID" dirty="0" smtClean="0"/>
              <a:t>URL website: https://www.google.com</a:t>
            </a:r>
          </a:p>
          <a:p>
            <a:pPr lvl="1"/>
            <a:r>
              <a:rPr lang="id-ID" dirty="0" smtClean="0"/>
              <a:t>URL API: https://api.example.com/v1/users?id=5</a:t>
            </a:r>
          </a:p>
          <a:p>
            <a:pPr lvl="1"/>
            <a:r>
              <a:rPr lang="id-ID" dirty="0" smtClean="0"/>
              <a:t>URL file: https://example.com/images/logo.png</a:t>
            </a:r>
          </a:p>
          <a:p>
            <a:endParaRPr lang="id-ID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Web Browser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Jika Web Server adalah aplikasi yang digunakan untuk menyimpan informasi Web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Web Browser adalah aplikasi yang digunakan untuk mengakses Web melalui internet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Kita bisa saja mengakses Web secara langsung tanpa bantuan Web Browser, namun Web Server hanya akan memberikan informasi bahasa mesin seperti HTML, JavaScript, CSS, Gambar, Video dan lain-lain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Dengan menggunakan Web Browser, semua bahasa mesin tersebut bisa ditampilkan secara visual sehingga kita bisa menyerap informasinya dengan lebih mudah</a:t>
            </a:r>
            <a:endParaRPr lang="id-ID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Apa Itu HTML ?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HTML singkatan dari HyperText Markup Language, ini adalah adalah struktur dasar dari halaman web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HTML mendeskripsikan struktur dari isi konten halaman Web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Selain HTML, terdapat hal lain untuk mendeskripsikan sebuah halaman web, seperti untuk gaya tampilan halaman web menggunakan CSS atau interaksi halaman web menggunakan JavaScript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Di materi ini, kita hanya akan fokus membahas HTML, tidak akan membahas tentang CSS atau JavaScript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HTML sendiri sebenarnya hanyalah kumpulan kode yang berisikan informasi halaman web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Kode HTML akan dibaca oleh Web Browser untuk ditampilkan secara visual</a:t>
            </a:r>
          </a:p>
          <a:p>
            <a:endParaRPr lang="id-ID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d-ID" dirty="0" smtClean="0"/>
              <a:t>Bagaimana Cara Melihat Kode HTML ?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Untuk melihat kode html, kita bisa buka website yang kita mau menggunakan Web Browser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Lalu gunakan menu View Source di aplikasi Web Browser nya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Misal kita buka website </a:t>
            </a:r>
            <a:r>
              <a:rPr lang="id-ID" u="sng" dirty="0" smtClean="0">
                <a:solidFill>
                  <a:schemeClr val="hlink"/>
                </a:solidFill>
              </a:rPr>
              <a:t>https://www.facebook.com/</a:t>
            </a:r>
            <a:endParaRPr lang="id-ID" dirty="0" smtClean="0"/>
          </a:p>
          <a:p>
            <a:endParaRPr lang="id-ID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Tag HTML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Kode HTML, berisikan kumpulan tag-tag yang kita buat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Tag adalah perintah dalam html yang memiliki aturan pembuka dan penutup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Ada banyak sekali tag di HTML, nanti kita akan pelajari satu per satu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Contoh untuk membuat sebuah tulisan paragraf di HTML, kita bisa gunakan tag p, dimana penulisannya :</a:t>
            </a:r>
            <a:br>
              <a:rPr lang="id-ID" dirty="0" smtClean="0"/>
            </a:br>
            <a:r>
              <a:rPr lang="id-ID" dirty="0" smtClean="0"/>
              <a:t>&lt;p&gt; Aku Belajar HTML untuk pertama kali &lt;/p&gt;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&lt;p&gt; diawal adalah tag pembuka, &lt;/p&gt; di akhir adalah tag penutup, Aku Belajar HTML untuk pertama kali adalah isi konten dari tag p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Tag yang berisi konten bisa kita sebut dengan nama Element</a:t>
            </a:r>
          </a:p>
          <a:p>
            <a:endParaRPr lang="id-ID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Void Element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Pada beberapa kasus, ada tag di HTML yang tidak perlu memiliki isi konten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Hal ini bisa kita sebut dengan Void Element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Contoh, di HTML terdapat Tag untuk membuat Break Line / Enter, dengan menggunakan tag br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Karena tag br tidak memiliki konten, maka kita bisa gunakan perintah :</a:t>
            </a:r>
            <a:br>
              <a:rPr lang="id-ID" dirty="0" smtClean="0"/>
            </a:br>
            <a:r>
              <a:rPr lang="id-ID" dirty="0" smtClean="0"/>
              <a:t>&lt;br&gt; atau &lt;br/&gt;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Tanpa harus menggunakan tag pembuka dan tag penutup</a:t>
            </a:r>
          </a:p>
          <a:p>
            <a:endParaRPr lang="id-ID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Attribute HTML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Element memiliki atribut. Atribut adalah informasi tambahan untuk tag yang kita gunakan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Kita bisa tambahkan atribut di Element pada tag pembuka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Contoh untuk menampilkan gambar di HTML, kita bisa menggunakan tag &lt;img&gt; dengan atribut src yang berisikan lokasi gambar yang ingin kita tampilkan :</a:t>
            </a:r>
            <a:br>
              <a:rPr lang="id-ID" dirty="0" smtClean="0"/>
            </a:br>
            <a:r>
              <a:rPr lang="id-ID" dirty="0" smtClean="0"/>
              <a:t>&lt;img src=”lokasi/gambar/file.jpg”/&gt;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Attribute bisa digunakan di Element biasa atau di Void Element</a:t>
            </a:r>
          </a:p>
          <a:p>
            <a:endParaRPr lang="id-ID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HTML Tidak Case Sensitive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Penulisan tag di HTML tidak case sensitive, artinya huruf besar atau kecil tidak masalah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Namun sangat disarankan menggunakan huruf kecil semua, misal &lt;p&gt;, jangan &lt;P&gt;</a:t>
            </a:r>
          </a:p>
          <a:p>
            <a:endParaRPr lang="id-ID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Contoh Kode HTML</a:t>
            </a:r>
            <a:endParaRPr lang="id-ID" dirty="0"/>
          </a:p>
        </p:txBody>
      </p:sp>
      <p:pic>
        <p:nvPicPr>
          <p:cNvPr id="4" name="Content Placeholder 3" descr="Screenshot_23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8151" y="1600200"/>
            <a:ext cx="6027697" cy="4525963"/>
          </a:xfr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Hasilnya</a:t>
            </a:r>
            <a:endParaRPr lang="id-ID" dirty="0"/>
          </a:p>
        </p:txBody>
      </p:sp>
      <p:pic>
        <p:nvPicPr>
          <p:cNvPr id="4" name="Content Placeholder 3" descr="Screenshot_24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869" y="1428736"/>
            <a:ext cx="8981725" cy="4230952"/>
          </a:xfr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Web Hosting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Pemilik Web, biasanya tidak menjalankan aplikasi Web Server di komputer pribadi nya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Biasanya mereka akan menyewa komputer di tempat penyedia data center (kumpulan komputer) yang terjamin keandalan dan kecepatan koneksi internetnya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Pihak penyedia komputer untuk Web Server biasa disebut Web Host</a:t>
            </a:r>
          </a:p>
          <a:p>
            <a:endParaRPr lang="id-ID" dirty="0" smtClean="0"/>
          </a:p>
          <a:p>
            <a:endParaRPr lang="id-ID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Diagram Web Hosting</a:t>
            </a:r>
            <a:endParaRPr lang="id-ID" dirty="0"/>
          </a:p>
        </p:txBody>
      </p:sp>
      <p:pic>
        <p:nvPicPr>
          <p:cNvPr id="4" name="Google Shape;405;p61"/>
          <p:cNvPicPr preferRelativeResize="0">
            <a:picLocks noGrp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7200" y="2890738"/>
            <a:ext cx="8229600" cy="19448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Instalasi Software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Untuk belajar HTML, kita membutuhkan dua buah perangkat lunak, Code Editor (kode editor) dan Web Browser (Perambah)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Pada kelas ini, kita akan menggunakan aplikasi yang populer untuk pengembang Web, yaitu Visual Studio Code sebagai kode editor dan Google Chrome sebagai web browser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Visual Studio Code : </a:t>
            </a:r>
            <a:r>
              <a:rPr lang="id-ID" u="sng" dirty="0" smtClean="0">
                <a:solidFill>
                  <a:schemeClr val="hlink"/>
                </a:solidFill>
                <a:hlinkClick r:id="rId2"/>
              </a:rPr>
              <a:t>https://code.visualstudio.com/</a:t>
            </a:r>
            <a:r>
              <a:rPr lang="id-ID" dirty="0" smtClean="0"/>
              <a:t> 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Google Chrome : </a:t>
            </a:r>
            <a:r>
              <a:rPr lang="id-ID" u="sng" dirty="0" smtClean="0">
                <a:solidFill>
                  <a:schemeClr val="hlink"/>
                </a:solidFill>
                <a:hlinkClick r:id="rId3"/>
              </a:rPr>
              <a:t>https://www.google.com/chrome/</a:t>
            </a:r>
            <a:r>
              <a:rPr lang="id-ID" dirty="0" smtClean="0"/>
              <a:t> </a:t>
            </a:r>
          </a:p>
          <a:p>
            <a:endParaRPr lang="id-ID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Hello World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Salah satu kebiasaan pengembang Web ketika pertama kali belajar, adalah membuat halaman Hello World (Halo Dunia)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Halamannya sederhana, hanya berisikan tulisan Hello World saja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Sekarang kita akan coba membuat halaman Web Hello World dengan menggunakan HTML</a:t>
            </a:r>
          </a:p>
          <a:p>
            <a:endParaRPr lang="id-ID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Live Server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Aplikasi Web Server ada banyak sekali, namun kita akan menggunakan yang paling mudah yaitu sebuah extension di Visual Studio Code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Kita bisa install extension bernama Live Server, yang bisa digunakan untuk menjalankan Web Server dari Visual Studio Code secara mudah</a:t>
            </a:r>
          </a:p>
          <a:p>
            <a:endParaRPr lang="id-ID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Penamaan File HTML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Sebenarnya tidak ada aturan dalam pembuatan nama file untuk HTML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Kita bisa menggunakan nama file apapun, dan huruf besar dan kecil apapun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Namun karena file HTML akan diakses sebagai URL pada web browser, misal :</a:t>
            </a:r>
            <a:br>
              <a:rPr lang="id-ID" dirty="0" smtClean="0"/>
            </a:br>
            <a:r>
              <a:rPr lang="id-ID" dirty="0" smtClean="0"/>
              <a:t>https://flashcom-simple-landing-page.vercel.app/home.html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Maka sangat disarankan mengikuti praktek yang baik penamaan URL</a:t>
            </a:r>
          </a:p>
          <a:p>
            <a:endParaRPr lang="id-ID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Best Practice Penamaan File HTML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Jangan menggunakan huruf besar, selalu gunakan huruf kecil semua, misal :</a:t>
            </a:r>
            <a:br>
              <a:rPr lang="id-ID" dirty="0" smtClean="0"/>
            </a:br>
            <a:r>
              <a:rPr lang="id-ID" dirty="0" smtClean="0"/>
              <a:t>index.html, home.html, belajar.html, eko.html, dan lain-lain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Jangan menggunakan spasi pada nama file, jika butuh pemisah, gunakan - atau _, misal :</a:t>
            </a:r>
            <a:br>
              <a:rPr lang="id-ID" dirty="0" smtClean="0"/>
            </a:br>
            <a:r>
              <a:rPr lang="id-ID" dirty="0" smtClean="0"/>
              <a:t>belajar-html.html, halaman-login.html, belajar_html.html</a:t>
            </a:r>
          </a:p>
          <a:p>
            <a:pPr marL="457200" lvl="0" indent="-311150">
              <a:spcBef>
                <a:spcPts val="0"/>
              </a:spcBef>
              <a:buSzPts val="1300"/>
              <a:buChar char="●"/>
            </a:pPr>
            <a:r>
              <a:rPr lang="id-ID" dirty="0" smtClean="0"/>
              <a:t>Jika butuh membuat folder di, gunakan aturan yang sama</a:t>
            </a:r>
          </a:p>
          <a:p>
            <a:endParaRPr lang="id-ID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Apa Itu Viewport ?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id-ID" dirty="0" smtClean="0"/>
              <a:t>Dalam pemrograman web, </a:t>
            </a:r>
            <a:r>
              <a:rPr lang="id-ID" b="1" dirty="0" smtClean="0"/>
              <a:t>viewport</a:t>
            </a:r>
            <a:r>
              <a:rPr lang="id-ID" dirty="0" smtClean="0"/>
              <a:t> adalah area tampilan (jendela) pada layar perangkat tempat sebuah halaman web dirender (ditampilkan).</a:t>
            </a:r>
            <a:br>
              <a:rPr lang="id-ID" dirty="0" smtClean="0"/>
            </a:br>
            <a:r>
              <a:rPr lang="id-ID" dirty="0" smtClean="0"/>
              <a:t>Viewport berbeda ukuran tergantung perangkat:</a:t>
            </a:r>
          </a:p>
          <a:p>
            <a:pPr lvl="1"/>
            <a:r>
              <a:rPr lang="id-ID" dirty="0" smtClean="0"/>
              <a:t>Desktop → biasanya lebar besar (misalnya 1920px).</a:t>
            </a:r>
          </a:p>
          <a:p>
            <a:pPr lvl="1"/>
            <a:r>
              <a:rPr lang="id-ID" dirty="0" smtClean="0"/>
              <a:t>Tablet → lebih kecil (misalnya 768px).</a:t>
            </a:r>
          </a:p>
          <a:p>
            <a:pPr lvl="1"/>
            <a:r>
              <a:rPr lang="id-ID" dirty="0" smtClean="0"/>
              <a:t>Smartphone → lebih sempit (misalnya 360px).</a:t>
            </a:r>
          </a:p>
          <a:p>
            <a:r>
              <a:rPr lang="id-ID" b="1" dirty="0" smtClean="0"/>
              <a:t>Peran dalam Web Development</a:t>
            </a:r>
            <a:r>
              <a:rPr lang="id-ID" dirty="0" smtClean="0"/>
              <a:t>:</a:t>
            </a:r>
            <a:br>
              <a:rPr lang="id-ID" dirty="0" smtClean="0"/>
            </a:br>
            <a:r>
              <a:rPr lang="id-ID" dirty="0" smtClean="0"/>
              <a:t>Karena ukuran layar berbeda-beda, developer harus menyesuaikan tampilan web agar </a:t>
            </a:r>
            <a:r>
              <a:rPr lang="id-ID" b="1" dirty="0" smtClean="0"/>
              <a:t>responsif</a:t>
            </a:r>
            <a:r>
              <a:rPr lang="id-ID" dirty="0" smtClean="0"/>
              <a:t>.</a:t>
            </a:r>
            <a:br>
              <a:rPr lang="id-ID" dirty="0" smtClean="0"/>
            </a:br>
            <a:r>
              <a:rPr lang="id-ID" dirty="0" smtClean="0"/>
              <a:t>HTML biasanya menggunakan </a:t>
            </a:r>
            <a:r>
              <a:rPr lang="id-ID" b="1" dirty="0" smtClean="0"/>
              <a:t>meta viewport</a:t>
            </a:r>
            <a:r>
              <a:rPr lang="id-ID" dirty="0" smtClean="0"/>
              <a:t> untuk memberi tahu browser cara menampilkan halaman.</a:t>
            </a:r>
          </a:p>
          <a:p>
            <a:endParaRPr lang="id-ID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500042"/>
            <a:ext cx="8258204" cy="5626121"/>
          </a:xfrm>
        </p:spPr>
        <p:txBody>
          <a:bodyPr>
            <a:normAutofit fontScale="92500" lnSpcReduction="20000"/>
          </a:bodyPr>
          <a:lstStyle/>
          <a:p>
            <a:r>
              <a:rPr lang="id-ID" dirty="0" smtClean="0"/>
              <a:t>Contoh kode di &lt;head&gt;:</a:t>
            </a:r>
          </a:p>
          <a:p>
            <a:r>
              <a:rPr lang="id-ID" dirty="0" smtClean="0"/>
              <a:t>&lt;meta name="viewport" content="width=device-width, initial-scale=1.0"&gt; </a:t>
            </a:r>
          </a:p>
          <a:p>
            <a:r>
              <a:rPr lang="id-ID" dirty="0" smtClean="0"/>
              <a:t>Artinya:</a:t>
            </a:r>
          </a:p>
          <a:p>
            <a:pPr lvl="1"/>
            <a:r>
              <a:rPr lang="id-ID" dirty="0" smtClean="0"/>
              <a:t>width=device-width → lebar halaman menyesuaikan lebar perangkat.</a:t>
            </a:r>
          </a:p>
          <a:p>
            <a:pPr lvl="1"/>
            <a:r>
              <a:rPr lang="id-ID" dirty="0" smtClean="0"/>
              <a:t>initial-scale=1.0 → tingkat zoom awal halaman adalah 100%.</a:t>
            </a:r>
          </a:p>
          <a:p>
            <a:r>
              <a:rPr lang="id-ID" b="1" dirty="0" smtClean="0"/>
              <a:t>Kenapa penting?</a:t>
            </a:r>
            <a:r>
              <a:rPr lang="id-ID" dirty="0" smtClean="0"/>
              <a:t/>
            </a:r>
            <a:br>
              <a:rPr lang="id-ID" dirty="0" smtClean="0"/>
            </a:br>
            <a:r>
              <a:rPr lang="id-ID" dirty="0" smtClean="0"/>
              <a:t>Tanpa meta viewport, di perangkat mobile, website bisa tampil sangat kecil (mengecil supaya muat di layar), sehingga sulit dibaca dan digunakan.</a:t>
            </a:r>
          </a:p>
          <a:p>
            <a:endParaRPr lang="id-ID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1128</Words>
  <Application>Microsoft Office PowerPoint</Application>
  <PresentationFormat>On-screen Show (4:3)</PresentationFormat>
  <Paragraphs>116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HTML DASAR</vt:lpstr>
      <vt:lpstr>Pengenalan Web</vt:lpstr>
      <vt:lpstr>Internet</vt:lpstr>
      <vt:lpstr>Web</vt:lpstr>
      <vt:lpstr>Cara Kerja Web</vt:lpstr>
      <vt:lpstr>Domain</vt:lpstr>
      <vt:lpstr> URL (Uniform Resource Locator) </vt:lpstr>
      <vt:lpstr>Slide 8</vt:lpstr>
      <vt:lpstr>Web Browser</vt:lpstr>
      <vt:lpstr>Apa Itu HTML ?</vt:lpstr>
      <vt:lpstr>Bagaimana Cara Melihat Kode HTML ?</vt:lpstr>
      <vt:lpstr>Tag HTML</vt:lpstr>
      <vt:lpstr>Void Element</vt:lpstr>
      <vt:lpstr>Attribute HTML</vt:lpstr>
      <vt:lpstr>HTML Tidak Case Sensitive</vt:lpstr>
      <vt:lpstr>Contoh Kode HTML</vt:lpstr>
      <vt:lpstr>Hasilnya</vt:lpstr>
      <vt:lpstr>Web Hosting</vt:lpstr>
      <vt:lpstr>Diagram Web Hosting</vt:lpstr>
      <vt:lpstr>Instalasi Software</vt:lpstr>
      <vt:lpstr>Hello World</vt:lpstr>
      <vt:lpstr>Live Server</vt:lpstr>
      <vt:lpstr>Penamaan File HTML</vt:lpstr>
      <vt:lpstr>Best Practice Penamaan File HTML</vt:lpstr>
      <vt:lpstr>Apa Itu Viewport ?</vt:lpstr>
      <vt:lpstr>Slide 26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DASAR</dc:title>
  <dc:creator>acer</dc:creator>
  <cp:lastModifiedBy>acer</cp:lastModifiedBy>
  <cp:revision>23</cp:revision>
  <dcterms:created xsi:type="dcterms:W3CDTF">2025-08-25T13:10:37Z</dcterms:created>
  <dcterms:modified xsi:type="dcterms:W3CDTF">2025-08-25T14:08:00Z</dcterms:modified>
</cp:coreProperties>
</file>